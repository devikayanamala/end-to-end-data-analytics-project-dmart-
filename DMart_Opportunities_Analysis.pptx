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E86AB"/>
                </a:solidFill>
                <a:latin typeface="Calibri"/>
              </a:defRPr>
            </a:pPr>
            <a:r>
              <a:t>DMart Opportunities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Food Services Division — Strategic Growth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Prepared for: Shaun, Sales Director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Data Period: 2011–2014  |  4,117 Orders  |  792 Customers  |  15 Countries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474720"/>
            <a:ext cx="6702552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Key findings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468880" cy="11887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86AB"/>
                </a:solidFill>
                <a:latin typeface="Calibri"/>
              </a:defRPr>
            </a:pPr>
            <a:r>
              <a:t>€2.3M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Total Sales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645920"/>
            <a:ext cx="2468880" cy="11887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373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86AB"/>
                </a:solidFill>
                <a:latin typeface="Calibri"/>
              </a:defRPr>
            </a:pPr>
            <a:r>
              <a:t>€283K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Total Profit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2468880" cy="11887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86AB"/>
                </a:solidFill>
                <a:latin typeface="Calibri"/>
              </a:defRPr>
            </a:pPr>
            <a:r>
              <a:t>12.1%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Profit Margin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645920"/>
            <a:ext cx="2468880" cy="118872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7373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86AB"/>
                </a:solidFill>
                <a:latin typeface="Calibri"/>
              </a:defRPr>
            </a:pPr>
            <a:r>
              <a:t>+19.8%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YoY Growth (2014)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Consumer segment dominates at 51.8% of sales, with Corporate (31.2%) as the biggest growth opportunity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Central region accounts for 55% of revenue — North and South regions are under-penetrated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France, Germany, and UK are top 3 markets — 7 smaller countries represent untapped potential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Discounts above 20% destroy profitability — disciplined pricing is critical for margin protection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Technology and Furniture categories offer higher margins vs. Office Supplies volume play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▸ Year-over-year growth accelerating: from 12.7% (2012) to 25.3% (2014), signalling strong momentum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Segment Performance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Share of total spends across Customer, Corporate &amp; Home Office</a:t>
            </a:r>
          </a:p>
        </p:txBody>
      </p:sp>
      <p:pic>
        <p:nvPicPr>
          <p:cNvPr id="4" name="Picture 3" descr="chart1_segmen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Category Spend Share by Segment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How each segment allocates spend across product categories</a:t>
            </a:r>
          </a:p>
        </p:txBody>
      </p:sp>
      <p:pic>
        <p:nvPicPr>
          <p:cNvPr id="4" name="Picture 3" descr="chart2_category_by_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Geographic Distribution of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Sales breakdown across 15 European countries and 3 regions</a:t>
            </a:r>
          </a:p>
        </p:txBody>
      </p:sp>
      <p:pic>
        <p:nvPicPr>
          <p:cNvPr id="4" name="Picture 3" descr="chart3_geographic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Sales Growth Trend (2011–2014)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Year-over-year growth acceleration signals strong momentum</a:t>
            </a:r>
          </a:p>
        </p:txBody>
      </p:sp>
      <p:pic>
        <p:nvPicPr>
          <p:cNvPr id="4" name="Picture 3" descr="chart4_yoy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Sub-Category Opportunity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Identifying high-margin, high-volume growth opportunities</a:t>
            </a:r>
          </a:p>
        </p:txBody>
      </p:sp>
      <p:pic>
        <p:nvPicPr>
          <p:cNvPr id="4" name="Picture 3" descr="chart5_opportun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City Performance &amp; Discount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Where we win and how discounting affects profitability</a:t>
            </a:r>
          </a:p>
        </p:txBody>
      </p:sp>
      <p:pic>
        <p:nvPicPr>
          <p:cNvPr id="4" name="Picture 3" descr="chart6_top_c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5760720" cy="4572000"/>
          </a:xfrm>
          <a:prstGeom prst="rect">
            <a:avLst/>
          </a:prstGeom>
        </p:spPr>
      </p:pic>
      <p:pic>
        <p:nvPicPr>
          <p:cNvPr id="5" name="Picture 4" descr="chart7_discount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71600"/>
            <a:ext cx="5943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Adjacent Segment &amp; Regional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Identifying under-penetrated segments across geographies</a:t>
            </a:r>
          </a:p>
        </p:txBody>
      </p:sp>
      <p:pic>
        <p:nvPicPr>
          <p:cNvPr id="4" name="Picture 3" descr="chart8_region_segmen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5486400" cy="4572000"/>
          </a:xfrm>
          <a:prstGeom prst="rect">
            <a:avLst/>
          </a:prstGeom>
        </p:spPr>
      </p:pic>
      <p:pic>
        <p:nvPicPr>
          <p:cNvPr id="5" name="Picture 4" descr="chart9_penetration_opportun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371600"/>
            <a:ext cx="61264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Strategic Recommendations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Where are our biggest opportunities?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1. EXPAND CORPORATE SEGMENT — Corporate represents 31% of sales but shows higher avg. order values. Targeted campaigns in France, Germany &amp; UK can capture an additional estimated €200K+ annually.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2. PENETRATE UNDER-SERVED GEOGRAPHIES — 7 smaller markets (Nordics, Benelux, Portugal, Switzerland) account for only 14% of sales. Deploying dedicated sales coverage can unlock significant new revenue.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3. OPTIMIZE DISCOUNT STRATEGY — Discounts above 20% result in negative profit margins. Implement tiered discount caps: max 10% for Office Supplies, max 15% for Technology, max 20% for Furniture.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4. DOUBLE DOWN ON HIGH-MARGIN SUB-CATEGORIES — Copiers, Phones, and Accessories show the best margin-to-volume ratio. Prioritize these in sales incentive plans.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5. INVEST IN NORTH &amp; SOUTH REGIONS — Central region is mature at 55% share. North (22%) and South (23%) offer the best incremental growth with focused regional sales teams.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6. LEVERAGE CUSTOMER FEEDBACK — Only 50% of transactions include feedback. Implement systematic feedback collection to improve NPS and retention in top accounts.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